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9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24"/>
    <p:restoredTop sz="94601"/>
  </p:normalViewPr>
  <p:slideViewPr>
    <p:cSldViewPr snapToGrid="0" snapToObjects="1">
      <p:cViewPr varScale="1">
        <p:scale>
          <a:sx n="203" d="100"/>
          <a:sy n="203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6D0CB-DAA0-9447-9AAF-32C53A9AFED5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7644F-E5D4-E449-B649-0DD630161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84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Spectrum, Peak : sample specific</a:t>
            </a:r>
          </a:p>
          <a:p>
            <a:r>
              <a:rPr lang="en-US" sz="1200" dirty="0" err="1"/>
              <a:t>Featrure</a:t>
            </a:r>
            <a:r>
              <a:rPr lang="en-US" sz="1200" dirty="0"/>
              <a:t>, </a:t>
            </a:r>
            <a:r>
              <a:rPr lang="en-US" sz="1200" dirty="0" err="1"/>
              <a:t>empCpd</a:t>
            </a:r>
            <a:r>
              <a:rPr lang="en-US" sz="1200" dirty="0"/>
              <a:t> : experiment specific</a:t>
            </a:r>
          </a:p>
          <a:p>
            <a:r>
              <a:rPr lang="en-US" sz="1200" dirty="0" err="1"/>
              <a:t>empCpd</a:t>
            </a:r>
            <a:r>
              <a:rPr lang="en-US" sz="1200" dirty="0"/>
              <a:t> = Empirical Compound</a:t>
            </a:r>
          </a:p>
          <a:p>
            <a:r>
              <a:rPr lang="en-US" sz="1200"/>
              <a:t>N:N = many to many mapping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7644F-E5D4-E449-B649-0DD63016150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0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EFC9-DECF-5B45-BE5A-207EC87BD6E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BE4-F4DB-5C4B-8080-C195CACDA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59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EFC9-DECF-5B45-BE5A-207EC87BD6E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BE4-F4DB-5C4B-8080-C195CACDA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EFC9-DECF-5B45-BE5A-207EC87BD6E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BE4-F4DB-5C4B-8080-C195CACDA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9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EFC9-DECF-5B45-BE5A-207EC87BD6E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BE4-F4DB-5C4B-8080-C195CACDA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5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EFC9-DECF-5B45-BE5A-207EC87BD6E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BE4-F4DB-5C4B-8080-C195CACDA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4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EFC9-DECF-5B45-BE5A-207EC87BD6E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BE4-F4DB-5C4B-8080-C195CACDA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84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EFC9-DECF-5B45-BE5A-207EC87BD6E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BE4-F4DB-5C4B-8080-C195CACDA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717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EFC9-DECF-5B45-BE5A-207EC87BD6E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BE4-F4DB-5C4B-8080-C195CACDA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EFC9-DECF-5B45-BE5A-207EC87BD6E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BE4-F4DB-5C4B-8080-C195CACDA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88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EFC9-DECF-5B45-BE5A-207EC87BD6E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BE4-F4DB-5C4B-8080-C195CACDA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4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7EFC9-DECF-5B45-BE5A-207EC87BD6E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DBBE4-F4DB-5C4B-8080-C195CACDA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0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7EFC9-DECF-5B45-BE5A-207EC87BD6E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DBBE4-F4DB-5C4B-8080-C195CACDA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6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FCB24E-63A2-C93A-F053-DB24A870665B}"/>
              </a:ext>
            </a:extLst>
          </p:cNvPr>
          <p:cNvSpPr txBox="1"/>
          <p:nvPr/>
        </p:nvSpPr>
        <p:spPr>
          <a:xfrm>
            <a:off x="5304175" y="4531811"/>
            <a:ext cx="848502" cy="27084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100" dirty="0"/>
              <a:t>Annotation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30D6E5-C437-FAA2-49BD-1156637A306F}"/>
              </a:ext>
            </a:extLst>
          </p:cNvPr>
          <p:cNvSpPr txBox="1"/>
          <p:nvPr/>
        </p:nvSpPr>
        <p:spPr>
          <a:xfrm>
            <a:off x="6184755" y="1798300"/>
            <a:ext cx="1252422" cy="2708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100" dirty="0"/>
              <a:t>Metabolic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884B3E-E136-12A5-EB5A-8559632614E3}"/>
              </a:ext>
            </a:extLst>
          </p:cNvPr>
          <p:cNvSpPr txBox="1"/>
          <p:nvPr/>
        </p:nvSpPr>
        <p:spPr>
          <a:xfrm>
            <a:off x="3378834" y="4190039"/>
            <a:ext cx="1084784" cy="27084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100" dirty="0"/>
              <a:t>Pre-annotation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78AFE-C24E-414A-038A-F9837623B91D}"/>
              </a:ext>
            </a:extLst>
          </p:cNvPr>
          <p:cNvSpPr txBox="1"/>
          <p:nvPr/>
        </p:nvSpPr>
        <p:spPr>
          <a:xfrm>
            <a:off x="3921226" y="4586672"/>
            <a:ext cx="1005840" cy="4401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sz="1100" dirty="0"/>
              <a:t>Empirical</a:t>
            </a:r>
            <a:br>
              <a:rPr lang="en-US" sz="1100" dirty="0"/>
            </a:br>
            <a:r>
              <a:rPr lang="en-US" sz="1100" dirty="0"/>
              <a:t>Compound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D0001F-8990-DE84-B6B6-6D3833B971B2}"/>
              </a:ext>
            </a:extLst>
          </p:cNvPr>
          <p:cNvSpPr txBox="1"/>
          <p:nvPr/>
        </p:nvSpPr>
        <p:spPr>
          <a:xfrm>
            <a:off x="3921226" y="3055037"/>
            <a:ext cx="1005840" cy="27084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1100" dirty="0"/>
              <a:t>Elution Peak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FA4FE-4E8C-CA15-612D-F66525FF49CB}"/>
              </a:ext>
            </a:extLst>
          </p:cNvPr>
          <p:cNvSpPr txBox="1"/>
          <p:nvPr/>
        </p:nvSpPr>
        <p:spPr>
          <a:xfrm>
            <a:off x="3921226" y="3841105"/>
            <a:ext cx="1005840" cy="27084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sz="1100" dirty="0"/>
              <a:t>Feature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E98601-2D9D-354A-FF9D-A28D06955C78}"/>
              </a:ext>
            </a:extLst>
          </p:cNvPr>
          <p:cNvSpPr txBox="1"/>
          <p:nvPr/>
        </p:nvSpPr>
        <p:spPr>
          <a:xfrm>
            <a:off x="3921226" y="2281662"/>
            <a:ext cx="1005840" cy="27084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sz="1100" dirty="0"/>
              <a:t>Mass track (EIC)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0F00D6-B351-1FF1-D218-F7C27AEE6C10}"/>
              </a:ext>
            </a:extLst>
          </p:cNvPr>
          <p:cNvSpPr txBox="1"/>
          <p:nvPr/>
        </p:nvSpPr>
        <p:spPr>
          <a:xfrm>
            <a:off x="2725003" y="1798300"/>
            <a:ext cx="1399780" cy="2887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100" dirty="0"/>
              <a:t>Separation parameters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18400E-4361-658F-3463-7F8679E4BF82}"/>
              </a:ext>
            </a:extLst>
          </p:cNvPr>
          <p:cNvSpPr txBox="1"/>
          <p:nvPr/>
        </p:nvSpPr>
        <p:spPr>
          <a:xfrm>
            <a:off x="2197156" y="1404670"/>
            <a:ext cx="1005840" cy="27084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sz="1100" dirty="0"/>
              <a:t>Spectrum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1B063E-0ADB-FE57-ACEB-A4C5BA8BA2DB}"/>
              </a:ext>
            </a:extLst>
          </p:cNvPr>
          <p:cNvSpPr txBox="1"/>
          <p:nvPr/>
        </p:nvSpPr>
        <p:spPr>
          <a:xfrm>
            <a:off x="2197156" y="2281662"/>
            <a:ext cx="1005840" cy="27084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sz="1100" dirty="0"/>
              <a:t>Array of Spectra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CBAD96-EBB6-ADF6-45D8-77156AEF3427}"/>
              </a:ext>
            </a:extLst>
          </p:cNvPr>
          <p:cNvSpPr txBox="1"/>
          <p:nvPr/>
        </p:nvSpPr>
        <p:spPr>
          <a:xfrm>
            <a:off x="3365810" y="2668637"/>
            <a:ext cx="1058336" cy="27084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100" dirty="0"/>
              <a:t>Peak detection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84E2A3-8B1D-AB25-5674-7BC68C6DA2D4}"/>
              </a:ext>
            </a:extLst>
          </p:cNvPr>
          <p:cNvSpPr txBox="1"/>
          <p:nvPr/>
        </p:nvSpPr>
        <p:spPr>
          <a:xfrm>
            <a:off x="7960264" y="2970398"/>
            <a:ext cx="779733" cy="44012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sz="1100"/>
              <a:t>Metabolic</a:t>
            </a:r>
            <a:br>
              <a:rPr lang="en-US" sz="1100"/>
            </a:br>
            <a:r>
              <a:rPr lang="en-US" sz="1100"/>
              <a:t>Network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543F00-4F78-59AA-9FBD-73A17C43EEDC}"/>
              </a:ext>
            </a:extLst>
          </p:cNvPr>
          <p:cNvSpPr txBox="1"/>
          <p:nvPr/>
        </p:nvSpPr>
        <p:spPr>
          <a:xfrm>
            <a:off x="6750444" y="2281662"/>
            <a:ext cx="804672" cy="27084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sz="1100" dirty="0"/>
              <a:t>Pathway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6A2369-AA92-02D0-B71C-E1B3140161A3}"/>
              </a:ext>
            </a:extLst>
          </p:cNvPr>
          <p:cNvSpPr txBox="1"/>
          <p:nvPr/>
        </p:nvSpPr>
        <p:spPr>
          <a:xfrm>
            <a:off x="6750444" y="3055037"/>
            <a:ext cx="804672" cy="27084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sz="1100"/>
              <a:t>Reaction</a:t>
            </a:r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3D1B8F-3AE2-8D72-571E-CFE159EDA0D2}"/>
              </a:ext>
            </a:extLst>
          </p:cNvPr>
          <p:cNvSpPr txBox="1"/>
          <p:nvPr/>
        </p:nvSpPr>
        <p:spPr>
          <a:xfrm>
            <a:off x="5558225" y="3055037"/>
            <a:ext cx="804672" cy="27084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sz="1100" dirty="0"/>
              <a:t>Enzyme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9096EA-CD35-3A6B-08E6-7CECF0181725}"/>
              </a:ext>
            </a:extLst>
          </p:cNvPr>
          <p:cNvSpPr txBox="1"/>
          <p:nvPr/>
        </p:nvSpPr>
        <p:spPr>
          <a:xfrm>
            <a:off x="5558225" y="2281662"/>
            <a:ext cx="804672" cy="27084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sz="1100" dirty="0"/>
              <a:t>Gene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29FADF-7268-35D3-C5F8-0D1E6EA3C592}"/>
              </a:ext>
            </a:extLst>
          </p:cNvPr>
          <p:cNvSpPr txBox="1"/>
          <p:nvPr/>
        </p:nvSpPr>
        <p:spPr>
          <a:xfrm>
            <a:off x="6649860" y="3761504"/>
            <a:ext cx="1005840" cy="43891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en-US" sz="1100" dirty="0"/>
              <a:t>Compound</a:t>
            </a:r>
          </a:p>
          <a:p>
            <a:pPr algn="ctr"/>
            <a:r>
              <a:rPr lang="en-US" sz="1100" dirty="0"/>
              <a:t>(Metabolite)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090B8867-F728-4BA5-D3AF-7E6A4E14CFF3}"/>
              </a:ext>
            </a:extLst>
          </p:cNvPr>
          <p:cNvCxnSpPr>
            <a:stCxn id="12" idx="2"/>
            <a:endCxn id="8" idx="1"/>
          </p:cNvCxnSpPr>
          <p:nvPr/>
        </p:nvCxnSpPr>
        <p:spPr>
          <a:xfrm rot="16200000" flipH="1">
            <a:off x="2598640" y="2653941"/>
            <a:ext cx="1424022" cy="1221150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B5BD2A7-5766-510D-0EEE-15948FB28549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4927066" y="3976527"/>
            <a:ext cx="1722794" cy="443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065F5F1-DC40-50D5-D64F-4477A776CB50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2700076" y="1675513"/>
            <a:ext cx="0" cy="606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98CFF50-0CC9-A788-2CB0-4E3AE00B1C95}"/>
              </a:ext>
            </a:extLst>
          </p:cNvPr>
          <p:cNvCxnSpPr>
            <a:stCxn id="12" idx="3"/>
            <a:endCxn id="9" idx="1"/>
          </p:cNvCxnSpPr>
          <p:nvPr/>
        </p:nvCxnSpPr>
        <p:spPr>
          <a:xfrm>
            <a:off x="3202996" y="2417084"/>
            <a:ext cx="7182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C136F5C-C9E9-FE29-FB29-DF41EDFA14DE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>
          <a:xfrm>
            <a:off x="4424146" y="4111948"/>
            <a:ext cx="0" cy="474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EBCDC23A-850A-11F8-345A-CD67406C30D6}"/>
              </a:ext>
            </a:extLst>
          </p:cNvPr>
          <p:cNvCxnSpPr>
            <a:cxnSpLocks/>
            <a:stCxn id="6" idx="3"/>
            <a:endCxn id="19" idx="2"/>
          </p:cNvCxnSpPr>
          <p:nvPr/>
        </p:nvCxnSpPr>
        <p:spPr>
          <a:xfrm flipV="1">
            <a:off x="4927066" y="4200416"/>
            <a:ext cx="2225714" cy="6063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4B3A8F0-CCCE-2E7C-B7FD-D876E65E5E78}"/>
              </a:ext>
            </a:extLst>
          </p:cNvPr>
          <p:cNvCxnSpPr>
            <a:cxnSpLocks/>
          </p:cNvCxnSpPr>
          <p:nvPr/>
        </p:nvCxnSpPr>
        <p:spPr>
          <a:xfrm>
            <a:off x="5960561" y="2552505"/>
            <a:ext cx="0" cy="502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ABF3647-BFED-08A5-55D4-F41D837B7E80}"/>
              </a:ext>
            </a:extLst>
          </p:cNvPr>
          <p:cNvCxnSpPr>
            <a:stCxn id="16" idx="0"/>
            <a:endCxn id="15" idx="2"/>
          </p:cNvCxnSpPr>
          <p:nvPr/>
        </p:nvCxnSpPr>
        <p:spPr>
          <a:xfrm flipV="1">
            <a:off x="7152780" y="2552505"/>
            <a:ext cx="0" cy="502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67F79DE-A841-EAE7-6679-45F52CA61A9E}"/>
              </a:ext>
            </a:extLst>
          </p:cNvPr>
          <p:cNvCxnSpPr>
            <a:stCxn id="17" idx="3"/>
            <a:endCxn id="16" idx="1"/>
          </p:cNvCxnSpPr>
          <p:nvPr/>
        </p:nvCxnSpPr>
        <p:spPr>
          <a:xfrm>
            <a:off x="6362897" y="3190459"/>
            <a:ext cx="387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E87DE2C-63EB-1264-6AF4-A0C9F164E522}"/>
              </a:ext>
            </a:extLst>
          </p:cNvPr>
          <p:cNvCxnSpPr>
            <a:stCxn id="16" idx="3"/>
            <a:endCxn id="14" idx="1"/>
          </p:cNvCxnSpPr>
          <p:nvPr/>
        </p:nvCxnSpPr>
        <p:spPr>
          <a:xfrm>
            <a:off x="7555116" y="3190459"/>
            <a:ext cx="4051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E6753F-E9F4-31AE-B3EB-6A70BD4D259C}"/>
              </a:ext>
            </a:extLst>
          </p:cNvPr>
          <p:cNvCxnSpPr>
            <a:cxnSpLocks/>
            <a:stCxn id="19" idx="0"/>
            <a:endCxn id="16" idx="2"/>
          </p:cNvCxnSpPr>
          <p:nvPr/>
        </p:nvCxnSpPr>
        <p:spPr>
          <a:xfrm flipV="1">
            <a:off x="7152780" y="3325880"/>
            <a:ext cx="0" cy="435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78DECFF-B467-7A95-610B-86E8A9E252DB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4424146" y="3325880"/>
            <a:ext cx="0" cy="51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DB1655-CE80-3C24-1593-E411D825086A}"/>
              </a:ext>
            </a:extLst>
          </p:cNvPr>
          <p:cNvCxnSpPr>
            <a:stCxn id="9" idx="2"/>
            <a:endCxn id="7" idx="0"/>
          </p:cNvCxnSpPr>
          <p:nvPr/>
        </p:nvCxnSpPr>
        <p:spPr>
          <a:xfrm>
            <a:off x="4424146" y="2552505"/>
            <a:ext cx="0" cy="502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CCF4561-0E90-C505-1F9D-8D32A4878271}"/>
              </a:ext>
            </a:extLst>
          </p:cNvPr>
          <p:cNvSpPr txBox="1"/>
          <p:nvPr/>
        </p:nvSpPr>
        <p:spPr>
          <a:xfrm>
            <a:off x="3677706" y="6281311"/>
            <a:ext cx="1249360" cy="2708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100" dirty="0"/>
              <a:t>Asari workflow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943E12-87E2-3B1B-D2CE-5789A3593D91}"/>
              </a:ext>
            </a:extLst>
          </p:cNvPr>
          <p:cNvSpPr txBox="1"/>
          <p:nvPr/>
        </p:nvSpPr>
        <p:spPr>
          <a:xfrm>
            <a:off x="2152044" y="214721"/>
            <a:ext cx="7376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MetDataModel</a:t>
            </a:r>
            <a:r>
              <a:rPr lang="en-US" sz="2000" dirty="0"/>
              <a:t>: Basic data structure in Computational Metabolomics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8107346C-6E91-C180-47E3-884BB49701CF}"/>
              </a:ext>
            </a:extLst>
          </p:cNvPr>
          <p:cNvCxnSpPr>
            <a:cxnSpLocks/>
          </p:cNvCxnSpPr>
          <p:nvPr/>
        </p:nvCxnSpPr>
        <p:spPr>
          <a:xfrm>
            <a:off x="2708256" y="3976886"/>
            <a:ext cx="1207008" cy="804672"/>
          </a:xfrm>
          <a:prstGeom prst="bentConnector3">
            <a:avLst>
              <a:gd name="adj1" fmla="val -665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23F897D-A83B-8D91-D4F6-B033F4756D3C}"/>
              </a:ext>
            </a:extLst>
          </p:cNvPr>
          <p:cNvSpPr txBox="1"/>
          <p:nvPr/>
        </p:nvSpPr>
        <p:spPr>
          <a:xfrm>
            <a:off x="3201481" y="2166520"/>
            <a:ext cx="433162" cy="2708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100" dirty="0"/>
              <a:t>MS</a:t>
            </a:r>
            <a:r>
              <a:rPr lang="en-US" sz="1100" baseline="300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31F7DB-E516-60E8-D5B5-9F192793F743}"/>
              </a:ext>
            </a:extLst>
          </p:cNvPr>
          <p:cNvSpPr txBox="1"/>
          <p:nvPr/>
        </p:nvSpPr>
        <p:spPr>
          <a:xfrm>
            <a:off x="2291101" y="4531811"/>
            <a:ext cx="433162" cy="2708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1100" dirty="0" err="1"/>
              <a:t>MS</a:t>
            </a:r>
            <a:r>
              <a:rPr lang="en-US" sz="1100" baseline="30000" dirty="0" err="1"/>
              <a:t>n</a:t>
            </a:r>
            <a:endParaRPr lang="en-US" sz="1100" baseline="30000" dirty="0"/>
          </a:p>
        </p:txBody>
      </p:sp>
    </p:spTree>
    <p:extLst>
      <p:ext uri="{BB962C8B-B14F-4D97-AF65-F5344CB8AC3E}">
        <p14:creationId xmlns:p14="http://schemas.microsoft.com/office/powerpoint/2010/main" val="1955761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/>
          <p:cNvSpPr/>
          <p:nvPr/>
        </p:nvSpPr>
        <p:spPr>
          <a:xfrm>
            <a:off x="6259259" y="3099618"/>
            <a:ext cx="1730188" cy="64633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515" y="3099618"/>
            <a:ext cx="845103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/>
              <a:t>Elution</a:t>
            </a:r>
            <a:br>
              <a:rPr lang="en-US"/>
            </a:br>
            <a:r>
              <a:rPr lang="en-US"/>
              <a:t>Peak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250185" y="3238117"/>
            <a:ext cx="902555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Feature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3162235" y="3422783"/>
            <a:ext cx="365760" cy="0"/>
          </a:xfrm>
          <a:prstGeom prst="line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884425" y="3422783"/>
            <a:ext cx="365760" cy="0"/>
          </a:xfrm>
          <a:prstGeom prst="line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218984" y="2932036"/>
            <a:ext cx="11641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rgbClr val="C00000"/>
                </a:solidFill>
              </a:rPr>
              <a:t>Confidence level </a:t>
            </a:r>
          </a:p>
          <a:p>
            <a:pPr algn="ctr"/>
            <a:r>
              <a:rPr lang="en-US" sz="1100" dirty="0">
                <a:solidFill>
                  <a:srgbClr val="C00000"/>
                </a:solidFill>
              </a:rPr>
              <a:t>or Probability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52044" y="214721"/>
            <a:ext cx="15381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Version 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3568" y="2480373"/>
            <a:ext cx="1128129" cy="64633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/>
              <a:t>Metabolic</a:t>
            </a:r>
            <a:br>
              <a:rPr lang="en-US"/>
            </a:br>
            <a:r>
              <a:rPr lang="en-US"/>
              <a:t>Network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783568" y="3666403"/>
            <a:ext cx="977512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Pathway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9963" y="3238117"/>
            <a:ext cx="1003095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Reaction</a:t>
            </a:r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7983860" y="3422783"/>
            <a:ext cx="3657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9349103" y="2978583"/>
            <a:ext cx="434465" cy="2595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endCxn id="11" idx="1"/>
          </p:cNvCxnSpPr>
          <p:nvPr/>
        </p:nvCxnSpPr>
        <p:spPr>
          <a:xfrm>
            <a:off x="9349103" y="3599271"/>
            <a:ext cx="434465" cy="2517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95424" y="2591590"/>
            <a:ext cx="912173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Enzyme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9910" y="1944946"/>
            <a:ext cx="683200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Gene</a:t>
            </a: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8851510" y="2330358"/>
            <a:ext cx="0" cy="246888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8851510" y="2979361"/>
            <a:ext cx="0" cy="246888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202058" y="2472693"/>
            <a:ext cx="478016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EIC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2926340" y="4079515"/>
            <a:ext cx="888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MS</a:t>
            </a:r>
            <a:r>
              <a:rPr lang="en-US" baseline="30000" dirty="0" err="1"/>
              <a:t>n</a:t>
            </a:r>
            <a:endParaRPr lang="en-US" baseline="30000" dirty="0"/>
          </a:p>
          <a:p>
            <a:pPr algn="ctr"/>
            <a:r>
              <a:rPr lang="en-US" dirty="0"/>
              <a:t>Spectra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88476" y="1969235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Annotation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778" y="1559408"/>
            <a:ext cx="888577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LC-MS</a:t>
            </a:r>
            <a:endParaRPr lang="en-US" baseline="30000" dirty="0"/>
          </a:p>
          <a:p>
            <a:pPr algn="ctr"/>
            <a:r>
              <a:rPr lang="en-US" dirty="0"/>
              <a:t>Spectra</a:t>
            </a:r>
          </a:p>
        </p:txBody>
      </p:sp>
      <p:sp>
        <p:nvSpPr>
          <p:cNvPr id="16" name="Oval 15"/>
          <p:cNvSpPr/>
          <p:nvPr/>
        </p:nvSpPr>
        <p:spPr>
          <a:xfrm>
            <a:off x="3547659" y="2930201"/>
            <a:ext cx="1721076" cy="985165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Empirical</a:t>
            </a:r>
            <a:br>
              <a:rPr lang="en-US" dirty="0"/>
            </a:br>
            <a:r>
              <a:rPr lang="en-US" dirty="0"/>
              <a:t>Compound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1258" y="2103212"/>
            <a:ext cx="1272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Other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approaches</a:t>
            </a:r>
          </a:p>
        </p:txBody>
      </p:sp>
      <p:cxnSp>
        <p:nvCxnSpPr>
          <p:cNvPr id="51" name="Straight Connector 50"/>
          <p:cNvCxnSpPr/>
          <p:nvPr/>
        </p:nvCxnSpPr>
        <p:spPr>
          <a:xfrm>
            <a:off x="2687554" y="2734731"/>
            <a:ext cx="0" cy="487704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4408197" y="2396898"/>
            <a:ext cx="0" cy="487704"/>
          </a:xfrm>
          <a:prstGeom prst="line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1439415" y="2208544"/>
            <a:ext cx="3303" cy="250734"/>
          </a:xfrm>
          <a:prstGeom prst="line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1439415" y="2837960"/>
            <a:ext cx="3303" cy="250734"/>
          </a:xfrm>
          <a:prstGeom prst="line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3696930" y="3967847"/>
            <a:ext cx="393290" cy="347331"/>
          </a:xfrm>
          <a:prstGeom prst="line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290021" y="3422783"/>
            <a:ext cx="969264" cy="0"/>
          </a:xfrm>
          <a:prstGeom prst="line">
            <a:avLst/>
          </a:prstGeom>
          <a:ln w="63500">
            <a:solidFill>
              <a:srgbClr val="C00000">
                <a:alpha val="5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48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26916" y="1884218"/>
            <a:ext cx="4324139" cy="600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Experiment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2073" y="1884218"/>
            <a:ext cx="4339456" cy="600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Metabolic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7522" y="3174037"/>
            <a:ext cx="62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5804" y="3174037"/>
            <a:ext cx="902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8769" y="3174037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empCpd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055924" y="3170928"/>
            <a:ext cx="1348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Compound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(metabolite)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69071" y="2660577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Network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069071" y="3380468"/>
            <a:ext cx="977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Pathway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2647" y="3174037"/>
            <a:ext cx="1003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Reaction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226916" y="2559816"/>
            <a:ext cx="4324139" cy="1977459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977390" y="2559816"/>
            <a:ext cx="4324139" cy="1977459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3869121" y="3358703"/>
            <a:ext cx="4263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311771" y="3360103"/>
            <a:ext cx="4263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8740920" y="2944856"/>
            <a:ext cx="326310" cy="2221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337887" y="3358703"/>
            <a:ext cx="718037" cy="0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577177" y="3358703"/>
            <a:ext cx="4263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745742" y="3425205"/>
            <a:ext cx="343207" cy="1377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536133" y="3050926"/>
            <a:ext cx="463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N:N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2963" y="5129983"/>
            <a:ext cx="44074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Spectrum, Peak : sample specific</a:t>
            </a:r>
          </a:p>
          <a:p>
            <a:r>
              <a:rPr lang="en-US" sz="1400" dirty="0" err="1"/>
              <a:t>Featrure</a:t>
            </a:r>
            <a:r>
              <a:rPr lang="en-US" sz="1400" dirty="0"/>
              <a:t>, </a:t>
            </a:r>
            <a:r>
              <a:rPr lang="en-US" sz="1400" dirty="0" err="1"/>
              <a:t>empCpd</a:t>
            </a:r>
            <a:r>
              <a:rPr lang="en-US" sz="1400" dirty="0"/>
              <a:t> : experiment specific</a:t>
            </a:r>
          </a:p>
          <a:p>
            <a:r>
              <a:rPr lang="en-US" sz="1400" dirty="0" err="1"/>
              <a:t>empCpd</a:t>
            </a:r>
            <a:r>
              <a:rPr lang="en-US" sz="1400" dirty="0"/>
              <a:t> = Empirical Compound</a:t>
            </a:r>
          </a:p>
          <a:p>
            <a:r>
              <a:rPr lang="en-US" sz="1400" dirty="0"/>
              <a:t>N:N = many to many 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5565" y="3765162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Spectrum</a:t>
            </a:r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1885094" y="3562983"/>
            <a:ext cx="257742" cy="2619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42647" y="3804793"/>
            <a:ext cx="912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Enzyme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4523" y="4106251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Gene</a:t>
            </a: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7437723" y="4086446"/>
            <a:ext cx="323396" cy="162913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8198733" y="3561430"/>
            <a:ext cx="0" cy="26350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D21768B-76EE-05F9-CFE5-3903854631C3}"/>
              </a:ext>
            </a:extLst>
          </p:cNvPr>
          <p:cNvSpPr txBox="1"/>
          <p:nvPr/>
        </p:nvSpPr>
        <p:spPr>
          <a:xfrm>
            <a:off x="2152044" y="214721"/>
            <a:ext cx="15381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Version 2020</a:t>
            </a:r>
          </a:p>
        </p:txBody>
      </p:sp>
    </p:spTree>
    <p:extLst>
      <p:ext uri="{BB962C8B-B14F-4D97-AF65-F5344CB8AC3E}">
        <p14:creationId xmlns:p14="http://schemas.microsoft.com/office/powerpoint/2010/main" val="1580959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146</Words>
  <Application>Microsoft Macintosh PowerPoint</Application>
  <PresentationFormat>Widescreen</PresentationFormat>
  <Paragraphs>65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Shuzhao Li</dc:creator>
  <cp:lastModifiedBy>Shuzhao Li</cp:lastModifiedBy>
  <cp:revision>17</cp:revision>
  <dcterms:created xsi:type="dcterms:W3CDTF">2020-10-19T19:21:45Z</dcterms:created>
  <dcterms:modified xsi:type="dcterms:W3CDTF">2025-11-18T01:21:35Z</dcterms:modified>
</cp:coreProperties>
</file>